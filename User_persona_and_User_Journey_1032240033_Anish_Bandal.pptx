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6858000" cx="12192000"/>
  <p:notesSz cx="6858000" cy="9144000"/>
  <p:embeddedFontLst>
    <p:embeddedFont>
      <p:font typeface="Poppins"/>
      <p:regular r:id="rId8"/>
      <p:bold r:id="rId9"/>
      <p:italic r:id="rId10"/>
      <p:boldItalic r:id="rId11"/>
    </p:embeddedFont>
    <p:embeddedFont>
      <p:font typeface="Inter"/>
      <p:regular r:id="rId12"/>
      <p:bold r:id="rId13"/>
      <p:italic r:id="rId14"/>
      <p:boldItalic r:id="rId15"/>
    </p:embeddedFont>
    <p:embeddedFont>
      <p:font typeface="Poppins Medium"/>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Poppins-boldItalic.fntdata"/><Relationship Id="rId10" Type="http://schemas.openxmlformats.org/officeDocument/2006/relationships/font" Target="fonts/Poppins-italic.fntdata"/><Relationship Id="rId13" Type="http://schemas.openxmlformats.org/officeDocument/2006/relationships/font" Target="fonts/Inter-bold.fntdata"/><Relationship Id="rId12"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Poppins-bold.fntdata"/><Relationship Id="rId15" Type="http://schemas.openxmlformats.org/officeDocument/2006/relationships/font" Target="fonts/Inter-boldItalic.fntdata"/><Relationship Id="rId14" Type="http://schemas.openxmlformats.org/officeDocument/2006/relationships/font" Target="fonts/Inter-italic.fntdata"/><Relationship Id="rId17" Type="http://schemas.openxmlformats.org/officeDocument/2006/relationships/font" Target="fonts/PoppinsMedium-bold.fntdata"/><Relationship Id="rId16" Type="http://schemas.openxmlformats.org/officeDocument/2006/relationships/font" Target="fonts/PoppinsMedium-regular.fntdata"/><Relationship Id="rId5" Type="http://schemas.openxmlformats.org/officeDocument/2006/relationships/notesMaster" Target="notesMasters/notesMaster1.xml"/><Relationship Id="rId19" Type="http://schemas.openxmlformats.org/officeDocument/2006/relationships/font" Target="fonts/PoppinsMedium-boldItalic.fntdata"/><Relationship Id="rId6" Type="http://schemas.openxmlformats.org/officeDocument/2006/relationships/slide" Target="slides/slide1.xml"/><Relationship Id="rId18" Type="http://schemas.openxmlformats.org/officeDocument/2006/relationships/font" Target="fonts/PoppinsMedium-italic.fntdata"/><Relationship Id="rId7" Type="http://schemas.openxmlformats.org/officeDocument/2006/relationships/slide" Target="slides/slide2.xml"/><Relationship Id="rId8" Type="http://schemas.openxmlformats.org/officeDocument/2006/relationships/font" Target="fonts/Poppi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6cb966dde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f6cb966dd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3.png"/><Relationship Id="rId11" Type="http://schemas.openxmlformats.org/officeDocument/2006/relationships/image" Target="../media/image9.png"/><Relationship Id="rId10" Type="http://schemas.openxmlformats.org/officeDocument/2006/relationships/image" Target="../media/image8.png"/><Relationship Id="rId9"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9448800" y="266700"/>
            <a:ext cx="2400300" cy="407491"/>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276225" y="945341"/>
            <a:ext cx="2857500" cy="5602783"/>
          </a:xfrm>
          <a:prstGeom prst="rect">
            <a:avLst/>
          </a:prstGeom>
          <a:noFill/>
          <a:ln>
            <a:noFill/>
          </a:ln>
        </p:spPr>
      </p:pic>
      <p:pic>
        <p:nvPicPr>
          <p:cNvPr descr="image.png" id="87" name="Google Shape;87;p13"/>
          <p:cNvPicPr preferRelativeResize="0"/>
          <p:nvPr/>
        </p:nvPicPr>
        <p:blipFill rotWithShape="1">
          <a:blip r:embed="rId6">
            <a:alphaModFix/>
          </a:blip>
          <a:srcRect b="0" l="0" r="0" t="0"/>
          <a:stretch/>
        </p:blipFill>
        <p:spPr>
          <a:xfrm>
            <a:off x="3505200" y="988516"/>
            <a:ext cx="8343900" cy="666750"/>
          </a:xfrm>
          <a:prstGeom prst="rect">
            <a:avLst/>
          </a:prstGeom>
          <a:noFill/>
          <a:ln>
            <a:noFill/>
          </a:ln>
        </p:spPr>
      </p:pic>
      <p:pic>
        <p:nvPicPr>
          <p:cNvPr descr="image.png" id="88" name="Google Shape;88;p13"/>
          <p:cNvPicPr preferRelativeResize="0"/>
          <p:nvPr/>
        </p:nvPicPr>
        <p:blipFill rotWithShape="1">
          <a:blip r:embed="rId7">
            <a:alphaModFix/>
          </a:blip>
          <a:srcRect b="0" l="0" r="0" t="0"/>
          <a:stretch/>
        </p:blipFill>
        <p:spPr>
          <a:xfrm>
            <a:off x="3505200" y="5395317"/>
            <a:ext cx="8343900" cy="1195982"/>
          </a:xfrm>
          <a:prstGeom prst="rect">
            <a:avLst/>
          </a:prstGeom>
          <a:noFill/>
          <a:ln>
            <a:noFill/>
          </a:ln>
        </p:spPr>
      </p:pic>
      <p:pic>
        <p:nvPicPr>
          <p:cNvPr descr="image.png" id="89" name="Google Shape;89;p13"/>
          <p:cNvPicPr preferRelativeResize="0"/>
          <p:nvPr/>
        </p:nvPicPr>
        <p:blipFill rotWithShape="1">
          <a:blip r:embed="rId8">
            <a:alphaModFix/>
          </a:blip>
          <a:srcRect b="0" l="0" r="0" t="0"/>
          <a:stretch/>
        </p:blipFill>
        <p:spPr>
          <a:xfrm>
            <a:off x="3505200" y="1807666"/>
            <a:ext cx="4076700" cy="3435250"/>
          </a:xfrm>
          <a:prstGeom prst="rect">
            <a:avLst/>
          </a:prstGeom>
          <a:noFill/>
          <a:ln>
            <a:noFill/>
          </a:ln>
        </p:spPr>
      </p:pic>
      <p:pic>
        <p:nvPicPr>
          <p:cNvPr descr="image.png" id="90" name="Google Shape;90;p13"/>
          <p:cNvPicPr preferRelativeResize="0"/>
          <p:nvPr/>
        </p:nvPicPr>
        <p:blipFill rotWithShape="1">
          <a:blip r:embed="rId8">
            <a:alphaModFix/>
          </a:blip>
          <a:srcRect b="0" l="0" r="0" t="0"/>
          <a:stretch/>
        </p:blipFill>
        <p:spPr>
          <a:xfrm>
            <a:off x="7772400" y="1807666"/>
            <a:ext cx="4076700" cy="3435250"/>
          </a:xfrm>
          <a:prstGeom prst="rect">
            <a:avLst/>
          </a:prstGeom>
          <a:noFill/>
          <a:ln>
            <a:noFill/>
          </a:ln>
        </p:spPr>
      </p:pic>
      <p:sp>
        <p:nvSpPr>
          <p:cNvPr id="91" name="Google Shape;91;p13"/>
          <p:cNvSpPr txBox="1"/>
          <p:nvPr/>
        </p:nvSpPr>
        <p:spPr>
          <a:xfrm>
            <a:off x="342900" y="284708"/>
            <a:ext cx="4651675"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172A"/>
                </a:solidFill>
                <a:latin typeface="Poppins"/>
                <a:ea typeface="Poppins"/>
                <a:cs typeface="Poppins"/>
                <a:sym typeface="Poppins"/>
              </a:rPr>
              <a:t>User Persona Profile: </a:t>
            </a:r>
            <a:r>
              <a:rPr b="1" i="0" lang="en-US" sz="1950" u="none" cap="none" strike="noStrike">
                <a:solidFill>
                  <a:srgbClr val="1D4ED8"/>
                </a:solidFill>
                <a:latin typeface="Poppins"/>
                <a:ea typeface="Poppins"/>
                <a:cs typeface="Poppins"/>
                <a:sym typeface="Poppins"/>
              </a:rPr>
              <a:t>Anand Verma</a:t>
            </a:r>
            <a:endParaRPr/>
          </a:p>
        </p:txBody>
      </p:sp>
      <p:sp>
        <p:nvSpPr>
          <p:cNvPr id="92" name="Google Shape;92;p13"/>
          <p:cNvSpPr txBox="1"/>
          <p:nvPr/>
        </p:nvSpPr>
        <p:spPr>
          <a:xfrm>
            <a:off x="9572625" y="323850"/>
            <a:ext cx="447675" cy="13335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i="0" lang="en-US" sz="825" u="none" cap="none" strike="noStrike">
                <a:solidFill>
                  <a:srgbClr val="1E293B"/>
                </a:solidFill>
                <a:latin typeface="Inter"/>
                <a:ea typeface="Inter"/>
                <a:cs typeface="Inter"/>
                <a:sym typeface="Inter"/>
              </a:rPr>
              <a:t>Student:</a:t>
            </a:r>
            <a:endParaRPr/>
          </a:p>
        </p:txBody>
      </p:sp>
      <p:sp>
        <p:nvSpPr>
          <p:cNvPr id="93" name="Google Shape;93;p13"/>
          <p:cNvSpPr txBox="1"/>
          <p:nvPr/>
        </p:nvSpPr>
        <p:spPr>
          <a:xfrm>
            <a:off x="10810875" y="323850"/>
            <a:ext cx="247650" cy="13335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i="0" lang="en-US" sz="825" u="none" cap="none" strike="noStrike">
                <a:solidFill>
                  <a:srgbClr val="1E293B"/>
                </a:solidFill>
                <a:latin typeface="Inter"/>
                <a:ea typeface="Inter"/>
                <a:cs typeface="Inter"/>
                <a:sym typeface="Inter"/>
              </a:rPr>
              <a:t>PRN:</a:t>
            </a:r>
            <a:endParaRPr/>
          </a:p>
        </p:txBody>
      </p:sp>
      <p:sp>
        <p:nvSpPr>
          <p:cNvPr id="94" name="Google Shape;94;p13"/>
          <p:cNvSpPr txBox="1"/>
          <p:nvPr/>
        </p:nvSpPr>
        <p:spPr>
          <a:xfrm>
            <a:off x="10067925" y="470445"/>
            <a:ext cx="323850" cy="13335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i="0" lang="en-US" sz="825" u="none" cap="none" strike="noStrike">
                <a:solidFill>
                  <a:srgbClr val="1E293B"/>
                </a:solidFill>
                <a:latin typeface="Inter"/>
                <a:ea typeface="Inter"/>
                <a:cs typeface="Inter"/>
                <a:sym typeface="Inter"/>
              </a:rPr>
              <a:t>Panel:</a:t>
            </a:r>
            <a:endParaRPr/>
          </a:p>
        </p:txBody>
      </p:sp>
      <p:sp>
        <p:nvSpPr>
          <p:cNvPr id="95" name="Google Shape;95;p13"/>
          <p:cNvSpPr txBox="1"/>
          <p:nvPr/>
        </p:nvSpPr>
        <p:spPr>
          <a:xfrm>
            <a:off x="10591800" y="470445"/>
            <a:ext cx="428625" cy="13335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i="0" lang="en-US" sz="825" u="none" cap="none" strike="noStrike">
                <a:solidFill>
                  <a:srgbClr val="1E293B"/>
                </a:solidFill>
                <a:latin typeface="Inter"/>
                <a:ea typeface="Inter"/>
                <a:cs typeface="Inter"/>
                <a:sym typeface="Inter"/>
              </a:rPr>
              <a:t>Subject:</a:t>
            </a:r>
            <a:endParaRPr/>
          </a:p>
        </p:txBody>
      </p:sp>
      <p:sp>
        <p:nvSpPr>
          <p:cNvPr id="96" name="Google Shape;96;p13"/>
          <p:cNvSpPr txBox="1"/>
          <p:nvPr/>
        </p:nvSpPr>
        <p:spPr>
          <a:xfrm>
            <a:off x="873750" y="2700429"/>
            <a:ext cx="1467000" cy="5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1D4ED8"/>
                </a:solidFill>
                <a:latin typeface="Poppins"/>
                <a:ea typeface="Poppins"/>
                <a:cs typeface="Poppins"/>
                <a:sym typeface="Poppins"/>
              </a:rPr>
              <a:t>Anand Verma</a:t>
            </a:r>
            <a:endParaRPr/>
          </a:p>
        </p:txBody>
      </p:sp>
      <p:sp>
        <p:nvSpPr>
          <p:cNvPr id="97" name="Google Shape;97;p13"/>
          <p:cNvSpPr txBox="1"/>
          <p:nvPr/>
        </p:nvSpPr>
        <p:spPr>
          <a:xfrm>
            <a:off x="3733800" y="1121866"/>
            <a:ext cx="7924800"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1" lang="en-US" sz="1125" u="none" cap="none" strike="noStrike">
                <a:solidFill>
                  <a:srgbClr val="0369A1"/>
                </a:solidFill>
                <a:latin typeface="Poppins Medium"/>
                <a:ea typeface="Poppins Medium"/>
                <a:cs typeface="Poppins Medium"/>
                <a:sym typeface="Poppins Medium"/>
              </a:rPr>
              <a:t>"I want an authentic piece of Indian horology history at fair prices directly from the source—without racing against glitched checkout screens or paying inflated prices to scalpers."</a:t>
            </a:r>
            <a:endParaRPr/>
          </a:p>
        </p:txBody>
      </p:sp>
      <p:sp>
        <p:nvSpPr>
          <p:cNvPr id="98" name="Google Shape;98;p13"/>
          <p:cNvSpPr txBox="1"/>
          <p:nvPr/>
        </p:nvSpPr>
        <p:spPr>
          <a:xfrm>
            <a:off x="3886200" y="5538192"/>
            <a:ext cx="7781925" cy="19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854D0E"/>
                </a:solidFill>
                <a:latin typeface="Poppins"/>
                <a:ea typeface="Poppins"/>
                <a:cs typeface="Poppins"/>
                <a:sym typeface="Poppins"/>
              </a:rPr>
              <a:t>User Scenario / Journey Narrative</a:t>
            </a:r>
            <a:endParaRPr/>
          </a:p>
        </p:txBody>
      </p:sp>
      <p:sp>
        <p:nvSpPr>
          <p:cNvPr id="99" name="Google Shape;99;p13"/>
          <p:cNvSpPr txBox="1"/>
          <p:nvPr/>
        </p:nvSpPr>
        <p:spPr>
          <a:xfrm>
            <a:off x="3686175" y="5785842"/>
            <a:ext cx="7981950" cy="662582"/>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51A03"/>
                </a:solidFill>
                <a:latin typeface="Inter"/>
                <a:ea typeface="Inter"/>
                <a:cs typeface="Inter"/>
                <a:sym typeface="Inter"/>
              </a:rPr>
              <a:t>Anand is a 28-year-old mechanical engineer with a passion for horology and Indian heritage. During work breaks, he actively monitors Reddit and Telegram communities for restock alerts on iconic models like the HMT Kohinoor. When a alert drops, Anand swiftly opens the official website on his phone to buy before scalpers exhaust inventory. However, he faces immense anxiety due to incomplete watch specifications, slow checkout validation, and the dread of rigid return procedures if the watch arrives with manufacturing defects.</a:t>
            </a:r>
            <a:endParaRPr/>
          </a:p>
        </p:txBody>
      </p:sp>
      <p:sp>
        <p:nvSpPr>
          <p:cNvPr id="100" name="Google Shape;100;p13"/>
          <p:cNvSpPr txBox="1"/>
          <p:nvPr/>
        </p:nvSpPr>
        <p:spPr>
          <a:xfrm>
            <a:off x="3933825" y="1969591"/>
            <a:ext cx="3467100" cy="2762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15803D"/>
                </a:solidFill>
                <a:latin typeface="Poppins"/>
                <a:ea typeface="Poppins"/>
                <a:cs typeface="Poppins"/>
                <a:sym typeface="Poppins"/>
              </a:rPr>
              <a:t>Goals</a:t>
            </a:r>
            <a:endParaRPr/>
          </a:p>
        </p:txBody>
      </p:sp>
      <p:sp>
        <p:nvSpPr>
          <p:cNvPr id="101" name="Google Shape;101;p13"/>
          <p:cNvSpPr/>
          <p:nvPr/>
        </p:nvSpPr>
        <p:spPr>
          <a:xfrm>
            <a:off x="3686175" y="2283916"/>
            <a:ext cx="37147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3"/>
          <p:cNvSpPr txBox="1"/>
          <p:nvPr/>
        </p:nvSpPr>
        <p:spPr>
          <a:xfrm>
            <a:off x="8201025" y="1969591"/>
            <a:ext cx="3467100" cy="2762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B91C1C"/>
                </a:solidFill>
                <a:latin typeface="Poppins"/>
                <a:ea typeface="Poppins"/>
                <a:cs typeface="Poppins"/>
                <a:sym typeface="Poppins"/>
              </a:rPr>
              <a:t>Frustrations</a:t>
            </a:r>
            <a:endParaRPr/>
          </a:p>
        </p:txBody>
      </p:sp>
      <p:sp>
        <p:nvSpPr>
          <p:cNvPr id="103" name="Google Shape;103;p13"/>
          <p:cNvSpPr/>
          <p:nvPr/>
        </p:nvSpPr>
        <p:spPr>
          <a:xfrm>
            <a:off x="7953375" y="2283916"/>
            <a:ext cx="371475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04" name="Google Shape;104;p13"/>
          <p:cNvPicPr preferRelativeResize="0"/>
          <p:nvPr/>
        </p:nvPicPr>
        <p:blipFill rotWithShape="1">
          <a:blip r:embed="rId9">
            <a:alphaModFix/>
          </a:blip>
          <a:srcRect b="0" l="0" r="0" t="0"/>
          <a:stretch/>
        </p:blipFill>
        <p:spPr>
          <a:xfrm>
            <a:off x="3686175" y="5569148"/>
            <a:ext cx="142875" cy="128587"/>
          </a:xfrm>
          <a:prstGeom prst="rect">
            <a:avLst/>
          </a:prstGeom>
          <a:noFill/>
          <a:ln>
            <a:noFill/>
          </a:ln>
        </p:spPr>
      </p:pic>
      <p:pic>
        <p:nvPicPr>
          <p:cNvPr descr="image.png" id="105" name="Google Shape;105;p13"/>
          <p:cNvPicPr preferRelativeResize="0"/>
          <p:nvPr/>
        </p:nvPicPr>
        <p:blipFill rotWithShape="1">
          <a:blip r:embed="rId10">
            <a:alphaModFix/>
          </a:blip>
          <a:srcRect b="0" l="0" r="0" t="0"/>
          <a:stretch/>
        </p:blipFill>
        <p:spPr>
          <a:xfrm>
            <a:off x="3686175" y="2012453"/>
            <a:ext cx="171450" cy="171450"/>
          </a:xfrm>
          <a:prstGeom prst="rect">
            <a:avLst/>
          </a:prstGeom>
          <a:noFill/>
          <a:ln>
            <a:noFill/>
          </a:ln>
        </p:spPr>
      </p:pic>
      <p:sp>
        <p:nvSpPr>
          <p:cNvPr id="106" name="Google Shape;106;p13"/>
          <p:cNvSpPr txBox="1"/>
          <p:nvPr/>
        </p:nvSpPr>
        <p:spPr>
          <a:xfrm>
            <a:off x="3857625" y="2398216"/>
            <a:ext cx="3543300"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334155"/>
                </a:solidFill>
                <a:latin typeface="Inter"/>
                <a:ea typeface="Inter"/>
                <a:cs typeface="Inter"/>
                <a:sym typeface="Inter"/>
              </a:rPr>
              <a:t>Purchase genuine heritage HMT mechanical &amp; automatic watches (Kohinoor, Tareeq, Stellar) at official retail prices.</a:t>
            </a:r>
            <a:endParaRPr/>
          </a:p>
        </p:txBody>
      </p:sp>
      <p:sp>
        <p:nvSpPr>
          <p:cNvPr id="107" name="Google Shape;107;p13"/>
          <p:cNvSpPr txBox="1"/>
          <p:nvPr/>
        </p:nvSpPr>
        <p:spPr>
          <a:xfrm>
            <a:off x="3857625" y="2794396"/>
            <a:ext cx="3543300"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334155"/>
                </a:solidFill>
                <a:latin typeface="Inter"/>
                <a:ea typeface="Inter"/>
                <a:cs typeface="Inter"/>
                <a:sym typeface="Inter"/>
              </a:rPr>
              <a:t>Complete online checkout seamlessly before limited stock sells out completely.</a:t>
            </a:r>
            <a:endParaRPr/>
          </a:p>
        </p:txBody>
      </p:sp>
      <p:sp>
        <p:nvSpPr>
          <p:cNvPr id="108" name="Google Shape;108;p13"/>
          <p:cNvSpPr txBox="1"/>
          <p:nvPr/>
        </p:nvSpPr>
        <p:spPr>
          <a:xfrm>
            <a:off x="3857625" y="3190577"/>
            <a:ext cx="3543300"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334155"/>
                </a:solidFill>
                <a:latin typeface="Inter"/>
                <a:ea typeface="Inter"/>
                <a:cs typeface="Inter"/>
                <a:sym typeface="Inter"/>
              </a:rPr>
              <a:t>Access comprehensive technical specs (lug-to-lug, movement caliber, crystal type) before committing to purchase.</a:t>
            </a:r>
            <a:endParaRPr/>
          </a:p>
        </p:txBody>
      </p:sp>
      <p:sp>
        <p:nvSpPr>
          <p:cNvPr id="109" name="Google Shape;109;p13"/>
          <p:cNvSpPr txBox="1"/>
          <p:nvPr/>
        </p:nvSpPr>
        <p:spPr>
          <a:xfrm>
            <a:off x="3857625" y="3586757"/>
            <a:ext cx="3543300"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334155"/>
                </a:solidFill>
                <a:latin typeface="Inter"/>
                <a:ea typeface="Inter"/>
                <a:cs typeface="Inter"/>
                <a:sym typeface="Inter"/>
              </a:rPr>
              <a:t>Experience a smooth, hassle-free process for product replacements, repairs, or returns if defects occur.</a:t>
            </a:r>
            <a:endParaRPr/>
          </a:p>
        </p:txBody>
      </p:sp>
      <p:pic>
        <p:nvPicPr>
          <p:cNvPr descr="image.png" id="110" name="Google Shape;110;p13"/>
          <p:cNvPicPr preferRelativeResize="0"/>
          <p:nvPr/>
        </p:nvPicPr>
        <p:blipFill rotWithShape="1">
          <a:blip r:embed="rId11">
            <a:alphaModFix/>
          </a:blip>
          <a:srcRect b="0" l="0" r="0" t="0"/>
          <a:stretch/>
        </p:blipFill>
        <p:spPr>
          <a:xfrm>
            <a:off x="7953375" y="2012453"/>
            <a:ext cx="171450" cy="171450"/>
          </a:xfrm>
          <a:prstGeom prst="rect">
            <a:avLst/>
          </a:prstGeom>
          <a:noFill/>
          <a:ln>
            <a:noFill/>
          </a:ln>
        </p:spPr>
      </p:pic>
      <p:sp>
        <p:nvSpPr>
          <p:cNvPr id="111" name="Google Shape;111;p13"/>
          <p:cNvSpPr txBox="1"/>
          <p:nvPr/>
        </p:nvSpPr>
        <p:spPr>
          <a:xfrm>
            <a:off x="8124825" y="2398216"/>
            <a:ext cx="3543300"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334155"/>
                </a:solidFill>
                <a:latin typeface="Inter"/>
                <a:ea typeface="Inter"/>
                <a:cs typeface="Inter"/>
                <a:sym typeface="Inter"/>
              </a:rPr>
              <a:t>High-demand watch models becoming out-of-stock mid-checkout due to lack of temporary cart reservation.</a:t>
            </a:r>
            <a:endParaRPr/>
          </a:p>
        </p:txBody>
      </p:sp>
      <p:sp>
        <p:nvSpPr>
          <p:cNvPr id="112" name="Google Shape;112;p13"/>
          <p:cNvSpPr txBox="1"/>
          <p:nvPr/>
        </p:nvSpPr>
        <p:spPr>
          <a:xfrm>
            <a:off x="8124825" y="2794396"/>
            <a:ext cx="3543300"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334155"/>
                </a:solidFill>
                <a:latin typeface="Inter"/>
                <a:ea typeface="Inter"/>
                <a:cs typeface="Inter"/>
                <a:sym typeface="Inter"/>
              </a:rPr>
              <a:t>Lack of detailed physical dimensions (lug-to-lug, strap width, case thickness) on official product pages.</a:t>
            </a:r>
            <a:endParaRPr/>
          </a:p>
        </p:txBody>
      </p:sp>
      <p:sp>
        <p:nvSpPr>
          <p:cNvPr id="113" name="Google Shape;113;p13"/>
          <p:cNvSpPr txBox="1"/>
          <p:nvPr/>
        </p:nvSpPr>
        <p:spPr>
          <a:xfrm>
            <a:off x="8124825" y="3190577"/>
            <a:ext cx="3543300"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334155"/>
                </a:solidFill>
                <a:latin typeface="Inter"/>
                <a:ea typeface="Inter"/>
                <a:cs typeface="Inter"/>
                <a:sym typeface="Inter"/>
              </a:rPr>
              <a:t>Onerous post-delivery requirements, such as mandating unboxing video proof for defect claims.</a:t>
            </a:r>
            <a:endParaRPr/>
          </a:p>
        </p:txBody>
      </p:sp>
      <p:sp>
        <p:nvSpPr>
          <p:cNvPr id="114" name="Google Shape;114;p13"/>
          <p:cNvSpPr txBox="1"/>
          <p:nvPr/>
        </p:nvSpPr>
        <p:spPr>
          <a:xfrm>
            <a:off x="8124825" y="3586757"/>
            <a:ext cx="3543300"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334155"/>
                </a:solidFill>
                <a:latin typeface="Inter"/>
                <a:ea typeface="Inter"/>
                <a:cs typeface="Inter"/>
                <a:sym typeface="Inter"/>
              </a:rPr>
              <a:t>Complex refund policies, customer-arranged return logistics, and prolonged waiting periods for payment reversals.</a:t>
            </a:r>
            <a:endParaRPr/>
          </a:p>
        </p:txBody>
      </p:sp>
      <p:sp>
        <p:nvSpPr>
          <p:cNvPr id="115" name="Google Shape;115;p13"/>
          <p:cNvSpPr txBox="1"/>
          <p:nvPr/>
        </p:nvSpPr>
        <p:spPr>
          <a:xfrm>
            <a:off x="3724275" y="2379166"/>
            <a:ext cx="76200" cy="20955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1" i="0" lang="en-US" sz="1200" u="none" cap="none" strike="noStrike">
                <a:solidFill>
                  <a:srgbClr val="16A34A"/>
                </a:solidFill>
                <a:latin typeface="Inter"/>
                <a:ea typeface="Inter"/>
                <a:cs typeface="Inter"/>
                <a:sym typeface="Inter"/>
              </a:rPr>
              <a:t>•</a:t>
            </a:r>
            <a:endParaRPr/>
          </a:p>
        </p:txBody>
      </p:sp>
      <p:sp>
        <p:nvSpPr>
          <p:cNvPr id="116" name="Google Shape;116;p13"/>
          <p:cNvSpPr txBox="1"/>
          <p:nvPr/>
        </p:nvSpPr>
        <p:spPr>
          <a:xfrm>
            <a:off x="3724275" y="2775346"/>
            <a:ext cx="76200" cy="20955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1" i="0" lang="en-US" sz="1200" u="none" cap="none" strike="noStrike">
                <a:solidFill>
                  <a:srgbClr val="16A34A"/>
                </a:solidFill>
                <a:latin typeface="Inter"/>
                <a:ea typeface="Inter"/>
                <a:cs typeface="Inter"/>
                <a:sym typeface="Inter"/>
              </a:rPr>
              <a:t>•</a:t>
            </a:r>
            <a:endParaRPr/>
          </a:p>
        </p:txBody>
      </p:sp>
      <p:sp>
        <p:nvSpPr>
          <p:cNvPr id="117" name="Google Shape;117;p13"/>
          <p:cNvSpPr txBox="1"/>
          <p:nvPr/>
        </p:nvSpPr>
        <p:spPr>
          <a:xfrm>
            <a:off x="3724275" y="3171527"/>
            <a:ext cx="76200" cy="20955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1" i="0" lang="en-US" sz="1200" u="none" cap="none" strike="noStrike">
                <a:solidFill>
                  <a:srgbClr val="16A34A"/>
                </a:solidFill>
                <a:latin typeface="Inter"/>
                <a:ea typeface="Inter"/>
                <a:cs typeface="Inter"/>
                <a:sym typeface="Inter"/>
              </a:rPr>
              <a:t>•</a:t>
            </a:r>
            <a:endParaRPr/>
          </a:p>
        </p:txBody>
      </p:sp>
      <p:sp>
        <p:nvSpPr>
          <p:cNvPr id="118" name="Google Shape;118;p13"/>
          <p:cNvSpPr txBox="1"/>
          <p:nvPr/>
        </p:nvSpPr>
        <p:spPr>
          <a:xfrm>
            <a:off x="3724275" y="3567707"/>
            <a:ext cx="76200" cy="20955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1" i="0" lang="en-US" sz="1200" u="none" cap="none" strike="noStrike">
                <a:solidFill>
                  <a:srgbClr val="16A34A"/>
                </a:solidFill>
                <a:latin typeface="Inter"/>
                <a:ea typeface="Inter"/>
                <a:cs typeface="Inter"/>
                <a:sym typeface="Inter"/>
              </a:rPr>
              <a:t>•</a:t>
            </a:r>
            <a:endParaRPr/>
          </a:p>
        </p:txBody>
      </p:sp>
      <p:sp>
        <p:nvSpPr>
          <p:cNvPr id="119" name="Google Shape;119;p13"/>
          <p:cNvSpPr txBox="1"/>
          <p:nvPr/>
        </p:nvSpPr>
        <p:spPr>
          <a:xfrm>
            <a:off x="7991475" y="2379166"/>
            <a:ext cx="76200" cy="20955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1" i="0" lang="en-US" sz="1200" u="none" cap="none" strike="noStrike">
                <a:solidFill>
                  <a:srgbClr val="DC2626"/>
                </a:solidFill>
                <a:latin typeface="Inter"/>
                <a:ea typeface="Inter"/>
                <a:cs typeface="Inter"/>
                <a:sym typeface="Inter"/>
              </a:rPr>
              <a:t>•</a:t>
            </a:r>
            <a:endParaRPr/>
          </a:p>
        </p:txBody>
      </p:sp>
      <p:sp>
        <p:nvSpPr>
          <p:cNvPr id="120" name="Google Shape;120;p13"/>
          <p:cNvSpPr txBox="1"/>
          <p:nvPr/>
        </p:nvSpPr>
        <p:spPr>
          <a:xfrm>
            <a:off x="7991475" y="2775346"/>
            <a:ext cx="76200" cy="20955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1" i="0" lang="en-US" sz="1200" u="none" cap="none" strike="noStrike">
                <a:solidFill>
                  <a:srgbClr val="DC2626"/>
                </a:solidFill>
                <a:latin typeface="Inter"/>
                <a:ea typeface="Inter"/>
                <a:cs typeface="Inter"/>
                <a:sym typeface="Inter"/>
              </a:rPr>
              <a:t>•</a:t>
            </a:r>
            <a:endParaRPr/>
          </a:p>
        </p:txBody>
      </p:sp>
      <p:sp>
        <p:nvSpPr>
          <p:cNvPr id="121" name="Google Shape;121;p13"/>
          <p:cNvSpPr txBox="1"/>
          <p:nvPr/>
        </p:nvSpPr>
        <p:spPr>
          <a:xfrm>
            <a:off x="7991475" y="3171527"/>
            <a:ext cx="76200" cy="20955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1" i="0" lang="en-US" sz="1200" u="none" cap="none" strike="noStrike">
                <a:solidFill>
                  <a:srgbClr val="DC2626"/>
                </a:solidFill>
                <a:latin typeface="Inter"/>
                <a:ea typeface="Inter"/>
                <a:cs typeface="Inter"/>
                <a:sym typeface="Inter"/>
              </a:rPr>
              <a:t>•</a:t>
            </a:r>
            <a:endParaRPr/>
          </a:p>
        </p:txBody>
      </p:sp>
      <p:sp>
        <p:nvSpPr>
          <p:cNvPr id="122" name="Google Shape;122;p13"/>
          <p:cNvSpPr txBox="1"/>
          <p:nvPr/>
        </p:nvSpPr>
        <p:spPr>
          <a:xfrm>
            <a:off x="7991475" y="3567707"/>
            <a:ext cx="76200" cy="20955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1" i="0" lang="en-US" sz="1200" u="none" cap="none" strike="noStrike">
                <a:solidFill>
                  <a:srgbClr val="DC2626"/>
                </a:solidFill>
                <a:latin typeface="Inter"/>
                <a:ea typeface="Inter"/>
                <a:cs typeface="Inter"/>
                <a:sym typeface="Inter"/>
              </a:rPr>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4" title="Screenshot 2026-08-11 at 1.36.11 PM.png"/>
          <p:cNvPicPr preferRelativeResize="0"/>
          <p:nvPr/>
        </p:nvPicPr>
        <p:blipFill>
          <a:blip r:embed="rId3">
            <a:alphaModFix/>
          </a:blip>
          <a:stretch>
            <a:fillRect/>
          </a:stretch>
        </p:blipFill>
        <p:spPr>
          <a:xfrm>
            <a:off x="8" y="76925"/>
            <a:ext cx="11951284"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